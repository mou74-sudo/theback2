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AR-Enhanced Maintenance Support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Bournemouth Central Bus Depot — TRL-3 Prototype</a:t>
            </a:r>
            <a:br/>
            <a:br/>
            <a:r>
              <a:rPr/>
              <a:t>Jude, Abishek, Shiar, Exauce, Mikku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COMP5067 Coursework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AR-Enhanced Maintenance Support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Bournemouth Central Bus Depot — TRL-3 Prototype</a:t>
            </a:r>
          </a:p>
          <a:p>
            <a:pPr lvl="0" indent="0" marL="0">
              <a:buNone/>
            </a:pPr>
            <a:r>
              <a:rPr/>
              <a:t>Group members and pathways:</a:t>
            </a:r>
          </a:p>
          <a:p>
            <a:pPr lvl="0"/>
            <a:r>
              <a:rPr/>
              <a:t>Jude — Computing (AR client)</a:t>
            </a:r>
          </a:p>
          <a:p>
            <a:pPr lvl="0"/>
            <a:r>
              <a:rPr/>
              <a:t>Abishek — Computing (Backend)</a:t>
            </a:r>
          </a:p>
          <a:p>
            <a:pPr lvl="0"/>
            <a:r>
              <a:rPr/>
              <a:t>Shiar — Data Analytics</a:t>
            </a:r>
          </a:p>
          <a:p>
            <a:pPr lvl="0"/>
            <a:r>
              <a:rPr/>
              <a:t>Exauce — Cyber Security</a:t>
            </a:r>
          </a:p>
          <a:p>
            <a:pPr lvl="0"/>
            <a:r>
              <a:rPr/>
              <a:t>Mikku — Integration &amp; Testing</a:t>
            </a:r>
          </a:p>
          <a:p>
            <a:pPr lvl="0" indent="0" marL="0">
              <a:buNone/>
            </a:pPr>
            <a:r>
              <a:rPr/>
              <a:t>Problem in one line: UK bus depots still run paper-based maintenance, and £180 m/year in fleet downtime says that doesn’t scale.</a:t>
            </a:r>
          </a:p>
          <a:p>
            <a:pPr lvl="0" indent="0" marL="0">
              <a:buNone/>
            </a:pPr>
            <a:r>
              <a:rPr/>
              <a:t>Live demo: https://.vercel.app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Department for Transport (2023): mechanical defects are a leading cause of unscheduled bus withdrawals.</a:t>
            </a:r>
          </a:p>
          <a:p>
            <a:pPr lvl="0"/>
            <a:r>
              <a:rPr/>
              <a:t>£180 m/year in UK fleet downtime; ageing mechanic workforce, lost tacit expertise (Palmarini et al., 2018).</a:t>
            </a:r>
          </a:p>
          <a:p>
            <a:pPr lvl="0"/>
            <a:r>
              <a:rPr/>
              <a:t>Three pain points from the brief: invisible faults, missing tools, manipulated records.</a:t>
            </a:r>
          </a:p>
          <a:p>
            <a:pPr lvl="0"/>
            <a:r>
              <a:rPr/>
              <a:t>Bournemouth Central is typical: mixed-vintage fleet, constrained device budget, paper-based fault flow.</a:t>
            </a:r>
          </a:p>
          <a:p>
            <a:pPr lvl="0"/>
            <a:r>
              <a:rPr/>
              <a:t>Brief constraint: TRL-3 prototype, public transport context.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integrated capabilities, one auditable workflow:</a:t>
            </a:r>
          </a:p>
          <a:p>
            <a:pPr lvl="0" indent="-342900" marL="342900">
              <a:buAutoNum type="arabicPeriod"/>
            </a:pPr>
            <a:r>
              <a:rPr b="1"/>
              <a:t>AR overlay</a:t>
            </a:r>
            <a:r>
              <a:rPr/>
              <a:t> — marker-based fault and tool inspection in the browser.</a:t>
            </a:r>
          </a:p>
          <a:p>
            <a:pPr lvl="0" indent="-342900" marL="342900">
              <a:buAutoNum type="arabicPeriod"/>
            </a:pPr>
            <a:r>
              <a:rPr b="1"/>
              <a:t>ML risk score</a:t>
            </a:r>
            <a:r>
              <a:rPr/>
              <a:t> — interpretable logistic regression with SHAP feature importance.</a:t>
            </a:r>
          </a:p>
          <a:p>
            <a:pPr lvl="0" indent="-342900" marL="342900">
              <a:buAutoNum type="arabicPeriod"/>
            </a:pPr>
            <a:r>
              <a:rPr b="1"/>
              <a:t>Audit-grade tool tracking</a:t>
            </a:r>
            <a:r>
              <a:rPr/>
              <a:t> — hash-chain log per session with admin-only anomaly panel.</a:t>
            </a:r>
          </a:p>
          <a:p>
            <a:pPr lvl="0" indent="0" marL="0">
              <a:buNone/>
            </a:pPr>
            <a:r>
              <a:rPr/>
              <a:t>Stack: AR.js + A-Frame, Express on Node.js 22, scikit-learn (offline training), Vercel serverless.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Rationale and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AR.js fiducial markers</a:t>
            </a:r>
            <a:r>
              <a:rPr/>
              <a:t> over WebXR markerless: tracking drift under workshop lighting (Mojidra et al., 2024).</a:t>
            </a:r>
          </a:p>
          <a:p>
            <a:pPr lvl="0"/>
            <a:r>
              <a:rPr b="1"/>
              <a:t>Logistic regression</a:t>
            </a:r>
            <a:r>
              <a:rPr/>
              <a:t> over random forest: interpretability beats accuracy at safety-critical decision points (Rudin, 2019).</a:t>
            </a:r>
          </a:p>
          <a:p>
            <a:pPr lvl="0"/>
            <a:r>
              <a:rPr b="1"/>
              <a:t>Modular monolith</a:t>
            </a:r>
            <a:r>
              <a:rPr/>
              <a:t> over microservices: team-of-five at TRL-3 (Carvalho et al., 2025).</a:t>
            </a:r>
          </a:p>
          <a:p>
            <a:pPr lvl="0"/>
            <a:r>
              <a:rPr b="1"/>
              <a:t>In-memory store</a:t>
            </a:r>
            <a:r>
              <a:rPr/>
              <a:t> over MongoDB at TRL-3: scope discipline, named TRL-4 upgrade.</a:t>
            </a:r>
          </a:p>
          <a:p>
            <a:pPr lvl="0"/>
            <a:r>
              <a:rPr b="1"/>
              <a:t>bcrypt cost 10</a:t>
            </a:r>
            <a:r>
              <a:rPr/>
              <a:t> over argon2id at TRL-3: Express ecosystem fit, named TRL-6 upgrade (Dwivedi et al., 2025).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1 — AR Fault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Camera on the printed Hiro marker.</a:t>
            </a:r>
          </a:p>
          <a:p>
            <a:pPr lvl="0"/>
            <a:r>
              <a:rPr/>
              <a:t>A-Frame renders a blue cube overlay with fault title, severity badge, and ML risk score.</a:t>
            </a:r>
          </a:p>
          <a:p>
            <a:pPr lvl="0"/>
            <a:r>
              <a:rPr/>
              <a:t>Demonstrates FR1 (scan to record), FR2 (component overlay), and FR4 (30-day risk) firing together.</a:t>
            </a:r>
          </a:p>
          <a:p>
            <a:pPr lvl="0"/>
            <a:r>
              <a:rPr/>
              <a:t>Backup: a pre-recorded screen capture is embedded in case the live marker tracking glitches.</a:t>
            </a:r>
          </a:p>
          <a:p>
            <a:pPr lvl="0" indent="0" marL="0">
              <a:buNone/>
            </a:pPr>
            <a:r>
              <a:rPr/>
              <a:t>(Jude narrates this slide live.)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2 — Tool Checkout and Audit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Kanji marker recognises a Tool record.</a:t>
            </a:r>
          </a:p>
          <a:p>
            <a:pPr lvl="0"/>
            <a:r>
              <a:rPr/>
              <a:t>The simulated QR-scan overlay fires, the movement log appends an entry, and the chain-integrity badge updates.</a:t>
            </a:r>
          </a:p>
          <a:p>
            <a:pPr lvl="0"/>
            <a:r>
              <a:rPr/>
              <a:t>Demonstrates FR5 (tool accountability) and NFR5 (immutable per-session hash chain).</a:t>
            </a:r>
          </a:p>
          <a:p>
            <a:pPr lvl="0"/>
            <a:r>
              <a:rPr/>
              <a:t>The audit chain uses a non-cryptographic DJB2 stub at TRL-3, documented as a SHA-256 upgrade at TRL-6.</a:t>
            </a:r>
          </a:p>
          <a:p>
            <a:pPr lvl="0" indent="0" marL="0">
              <a:buNone/>
            </a:pPr>
            <a:r>
              <a:rPr/>
              <a:t>(Mikku narrates this slide live.)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 Security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Login</a:t>
            </a:r>
            <a:r>
              <a:rPr/>
              <a:t>: bcrypt verify, then HS256 JWT (8-hour expiry) carrying name and role.</a:t>
            </a:r>
          </a:p>
          <a:p>
            <a:pPr lvl="0"/>
            <a:r>
              <a:rPr b="1"/>
              <a:t>Auth middleware</a:t>
            </a:r>
            <a:r>
              <a:rPr/>
              <a:t>: 401 on missing/expired token; 403 on a mechanic hitting </a:t>
            </a:r>
            <a:r>
              <a:rPr>
                <a:latin typeface="Courier"/>
              </a:rPr>
              <a:t>/v1/reset</a:t>
            </a:r>
            <a:r>
              <a:rPr/>
              <a:t>.</a:t>
            </a:r>
          </a:p>
          <a:p>
            <a:pPr lvl="0"/>
            <a:r>
              <a:rPr b="1"/>
              <a:t>STRIDE</a:t>
            </a:r>
            <a:r>
              <a:rPr/>
              <a:t>: every category in Table 8 has a named threat and a specific mitigation.</a:t>
            </a:r>
          </a:p>
          <a:p>
            <a:pPr lvl="0"/>
            <a:r>
              <a:rPr b="1"/>
              <a:t>Anomaly detectors</a:t>
            </a:r>
            <a:r>
              <a:rPr/>
              <a:t>: D1 page-load rate, D2 role-set tampering, D3 duplicate-timestamp replay; admin-only panel.</a:t>
            </a:r>
          </a:p>
          <a:p>
            <a:pPr lvl="0"/>
            <a:r>
              <a:rPr/>
              <a:t>TLS 1.3 from Vercel, CORS env-locked in production.</a:t>
            </a:r>
          </a:p>
          <a:p>
            <a:pPr lvl="0" indent="0" marL="0">
              <a:buNone/>
            </a:pPr>
            <a:r>
              <a:rPr/>
              <a:t>(Exauce narrates this slide live.)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Four KPI cards (Few, 2013): total faults, open faults, missing tools, average risk.</a:t>
            </a:r>
          </a:p>
          <a:p>
            <a:pPr lvl="0"/>
            <a:r>
              <a:rPr/>
              <a:t>Severity breakdown, monthly volume, top-5 highest-risk buses.</a:t>
            </a:r>
          </a:p>
          <a:p>
            <a:pPr lvl="0"/>
            <a:r>
              <a:rPr/>
              <a:t>SHAP global importance: severity dominates, open status secondary.</a:t>
            </a:r>
          </a:p>
          <a:p>
            <a:pPr lvl="0"/>
            <a:r>
              <a:rPr/>
              <a:t>ML status bar: F1 = 0.850, AUC-ROC = 0.926, p95 latency = 34 ms.</a:t>
            </a:r>
          </a:p>
          <a:p>
            <a:pPr lvl="0" indent="0" marL="0">
              <a:buNone/>
            </a:pPr>
            <a:r>
              <a:rPr/>
              <a:t>(Shiar narrates this slide live.)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ML Pipeline and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5,000 synthetic records, 80/20 split. Class-weight balanced LR.</a:t>
            </a:r>
          </a:p>
          <a:p>
            <a:pPr lvl="0"/>
            <a:r>
              <a:rPr/>
              <a:t>Confusion matrix: 16.5% FN at threshold 0.5, the high-cost cell.</a:t>
            </a:r>
          </a:p>
          <a:p>
            <a:pPr lvl="0"/>
            <a:r>
              <a:rPr/>
              <a:t>ROC curve: AUC 0.926 vs random 0.500.</a:t>
            </a:r>
          </a:p>
          <a:p>
            <a:pPr lvl="0"/>
            <a:r>
              <a:rPr/>
              <a:t>Threshold could be lowered to trade FN for FP; deferred to stakeholder review (Section 4d).</a:t>
            </a:r>
          </a:p>
          <a:p>
            <a:pPr lvl="0"/>
            <a:r>
              <a:rPr/>
              <a:t>Synthetic-data ceiling: figures are feasibility, not deployment guarantee (Nieminen et al., 2026).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Section 4e five-step trace:</a:t>
            </a:r>
          </a:p>
          <a:p>
            <a:pPr lvl="0" indent="-342900" marL="342900">
              <a:buAutoNum type="arabicPeriod"/>
            </a:pPr>
            <a:r>
              <a:rPr/>
              <a:t>Mechanic logs in as </a:t>
            </a:r>
            <a:r>
              <a:rPr>
                <a:latin typeface="Courier"/>
              </a:rPr>
              <a:t>alex.mechanic</a:t>
            </a:r>
            <a:r>
              <a:rPr/>
              <a:t> — RBAC hides admin/anomaly controls.</a:t>
            </a:r>
          </a:p>
          <a:p>
            <a:pPr lvl="0" indent="-342900" marL="342900">
              <a:buAutoNum type="arabicPeriod"/>
            </a:pPr>
            <a:r>
              <a:rPr/>
              <a:t>High-risk filter applied, a critical brake caliper fault selected.</a:t>
            </a:r>
          </a:p>
          <a:p>
            <a:pPr lvl="0" indent="-342900" marL="342900">
              <a:buAutoNum type="arabicPeriod"/>
            </a:pPr>
            <a:r>
              <a:rPr/>
              <a:t>AR.js detects the Hiro marker (~200 ms), A-Frame renders the overlay.</a:t>
            </a:r>
          </a:p>
          <a:p>
            <a:pPr lvl="0" indent="-342900" marL="342900">
              <a:buAutoNum type="arabicPeriod"/>
            </a:pPr>
            <a:r>
              <a:rPr/>
              <a:t>AR client posts to </a:t>
            </a:r>
            <a:r>
              <a:rPr>
                <a:latin typeface="Courier"/>
              </a:rPr>
              <a:t>/predict</a:t>
            </a:r>
            <a:r>
              <a:rPr/>
              <a:t>, overlay displays returned probability inside the 100 ms NFR1 budget.</a:t>
            </a:r>
          </a:p>
          <a:p>
            <a:pPr lvl="0" indent="-342900" marL="342900">
              <a:buAutoNum type="arabicPeriod"/>
            </a:pPr>
            <a:r>
              <a:rPr/>
              <a:t>Inspection note appended, dashboard recalculates on reload.</a:t>
            </a:r>
          </a:p>
          <a:p>
            <a:pPr lvl="0" indent="0" marL="0">
              <a:buNone/>
            </a:pPr>
            <a:r>
              <a:rPr/>
              <a:t>One JWT, one data path across AR, backend, and dashboard.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 Against the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Functional requirements: </a:t>
            </a:r>
            <a:r>
              <a:rPr b="1"/>
              <a:t>6 of 7 met</a:t>
            </a:r>
            <a:r>
              <a:rPr/>
              <a:t>, FR2 partial.</a:t>
            </a:r>
          </a:p>
          <a:p>
            <a:pPr lvl="0"/>
            <a:r>
              <a:rPr/>
              <a:t>FR2 shortfall: WebXR depth-sensing immature on Android, absent on iOS Safari (Salii et al., 2025).</a:t>
            </a:r>
          </a:p>
          <a:p>
            <a:pPr lvl="0"/>
            <a:r>
              <a:rPr/>
              <a:t>TRL-6 path: QR asset-tag anchors + ARCore/ARKit depth APIs.</a:t>
            </a:r>
          </a:p>
          <a:p>
            <a:pPr lvl="0" indent="0" marL="0">
              <a:buNone/>
            </a:pPr>
            <a:r>
              <a:rPr/>
              <a:t>Non-functional requirements: all quantitative targets met.</a:t>
            </a:r>
          </a:p>
          <a:p>
            <a:pPr lvl="0"/>
            <a:r>
              <a:rPr/>
              <a:t>p95 latency 80 ms (NFR1, target &lt;100 ms), 28 tests in &lt;1 s (NFR7, floor 20), cold-start ~3 s (NFR2).</a:t>
            </a:r>
          </a:p>
          <a:p>
            <a:pPr lvl="0"/>
            <a:r>
              <a:rPr/>
              <a:t>Honest line: synthetic-data metrics are a ceiling, not a deployment guarantee.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 with Published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metrics vs published baselines:</a:t>
            </a:r>
          </a:p>
          <a:p>
            <a:pPr lvl="0"/>
            <a:r>
              <a:rPr b="1"/>
              <a:t>This work (2026)</a:t>
            </a:r>
            <a:r>
              <a:rPr/>
              <a:t> LR — F1 0.850, AUC 0.926</a:t>
            </a:r>
          </a:p>
          <a:p>
            <a:pPr lvl="0"/>
            <a:r>
              <a:rPr b="1"/>
              <a:t>Ibrahim et al. (2024)</a:t>
            </a:r>
            <a:r>
              <a:rPr/>
              <a:t> RF+SVR — F1 0.71, AUC 0.81</a:t>
            </a:r>
          </a:p>
          <a:p>
            <a:pPr lvl="0"/>
            <a:r>
              <a:rPr b="1"/>
              <a:t>Gawde et al. (2024)</a:t>
            </a:r>
            <a:r>
              <a:rPr/>
              <a:t> XGBoost — F1 0.75, AUC 0.84</a:t>
            </a:r>
          </a:p>
          <a:p>
            <a:pPr lvl="0"/>
            <a:r>
              <a:rPr b="1"/>
              <a:t>Cummins et al. (2024)</a:t>
            </a:r>
            <a:r>
              <a:rPr/>
              <a:t> LR median — F1 0.62, AUC 0.74</a:t>
            </a:r>
          </a:p>
          <a:p>
            <a:pPr lvl="0"/>
            <a:r>
              <a:rPr b="1"/>
              <a:t>Marchand et al. (2025)</a:t>
            </a:r>
            <a:r>
              <a:rPr/>
              <a:t> Ensemble — F1 0.69, AUC 0.79</a:t>
            </a:r>
          </a:p>
          <a:p>
            <a:pPr lvl="0" indent="0" marL="0">
              <a:buNone/>
            </a:pPr>
            <a:r>
              <a:rPr/>
              <a:t>LR is competitive on synthetic data; field data is the next validation step.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Limitations, Ethics,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deliberate limitations:</a:t>
            </a:r>
          </a:p>
          <a:p>
            <a:pPr lvl="0"/>
            <a:r>
              <a:rPr/>
              <a:t>Synthetic training data — metrics are a ceiling, not a deployment guarantee.</a:t>
            </a:r>
          </a:p>
          <a:p>
            <a:pPr lvl="0"/>
            <a:r>
              <a:rPr/>
              <a:t>In-memory store resets on Vercel cold starts; MongoDB Atlas at TRL-4.</a:t>
            </a:r>
          </a:p>
          <a:p>
            <a:pPr lvl="0"/>
            <a:r>
              <a:rPr/>
              <a:t>AR surface does not yet meet WCAG 2.1 AA; XR accessibility tooling immature industry-wide (Killough et al., 2024).</a:t>
            </a:r>
          </a:p>
          <a:p>
            <a:pPr lvl="0" indent="0" marL="0">
              <a:buNone/>
            </a:pPr>
            <a:r>
              <a:rPr/>
              <a:t>Three ethics dimensions:</a:t>
            </a:r>
          </a:p>
          <a:p>
            <a:pPr lvl="0"/>
            <a:r>
              <a:rPr/>
              <a:t>Audit log holds personal data under UK GDPR Art. 6(1)(f) — DPIA needed at TRL-6.</a:t>
            </a:r>
          </a:p>
          <a:p>
            <a:pPr lvl="0"/>
            <a:r>
              <a:rPr/>
              <a:t>Surveillance risk if log is repurposed for performance management — admin-only access mitigates.</a:t>
            </a:r>
          </a:p>
          <a:p>
            <a:pPr lvl="0"/>
            <a:r>
              <a:rPr/>
              <a:t>Synthetic data carries no immediate ethics burden, but the TRL-4 hybrid pilot would need committee review.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Pathway Contributions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contributions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Computing — 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AR.js + A-Frame marker flow, dual-marker UX, print stylesheet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Computing — Backend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Abishek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Express API, bcrypt + JWT, Vercel deploy, </a:t>
                      </a:r>
                      <a:r>
                        <a:rPr>
                          <a:latin typeface="Courier"/>
                        </a:rPr>
                        <a:t>/predict</a:t>
                      </a:r>
                      <a:r>
                        <a:rPr/>
                        <a:t> endpoint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Cyber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Exauce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RBAC, service worker, STRIDE threat model, accessibility toggles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Shiar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LR training, SHAP, dashboard charts, drift-monitoring stub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Integration &amp; Testing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Mikku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 board, hash-chain audit log, anomaly panel, 28-test Jest suite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member speaks one sentence on this slide.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TRL Roadmap and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TRL-4</a:t>
            </a:r>
            <a:r>
              <a:rPr/>
              <a:t>: two months of real depot records, MongoDB Atlas, argon2id hashing.</a:t>
            </a:r>
          </a:p>
          <a:p>
            <a:pPr lvl="0"/>
            <a:r>
              <a:rPr b="1"/>
              <a:t>TRL-5</a:t>
            </a:r>
            <a:r>
              <a:rPr/>
              <a:t>: pilot with two mechanics for one shift each.</a:t>
            </a:r>
          </a:p>
          <a:p>
            <a:pPr lvl="0"/>
            <a:r>
              <a:rPr b="1"/>
              <a:t>TRL-6</a:t>
            </a:r>
            <a:r>
              <a:rPr/>
              <a:t>: full depot for one month, OpenTelemetry, drift-aware retraining, formal WCAG AR audit.</a:t>
            </a:r>
          </a:p>
          <a:p>
            <a:pPr lvl="0" indent="0" marL="0">
              <a:buNone/>
            </a:pPr>
            <a:r>
              <a:rPr/>
              <a:t>Reflection in one sentence:</a:t>
            </a:r>
          </a:p>
          <a:p>
            <a:pPr lvl="0" indent="0" marL="0">
              <a:buNone/>
            </a:pPr>
            <a:r>
              <a:rPr i="1"/>
              <a:t>“Three pathways, one prototype — integration was the work, not the polish.”</a:t>
            </a:r>
          </a:p>
          <a:p>
            <a:pPr lvl="0" indent="0" marL="0">
              <a:buNone/>
            </a:pPr>
            <a:r>
              <a:rPr/>
              <a:t>Demo: https://.vercel.app Thank you.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AR-Enhanced Maintenance Support System</dc:title>
  <dc:creator>Jude, Abishek, Shiar, Exauce, Mikku</dc:creator>
  <cp:keywords/>
  <dcterms:created xsi:type="dcterms:W3CDTF">2026-05-11T16:50:30Z</dcterms:created>
  <dcterms:modified xsi:type="dcterms:W3CDTF">2026-05-11T16:50:30Z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COMP5067 Coursework 1</vt:lpwstr>
  </property>
  <property fmtid="{D5CDD505-2E9C-101B-9397-08002B2CF9AE}" pid="3" name="subtitle">
    <vt:lpwstr>Bournemouth Central Bus Depot — TRL-3 Prototype</vt:lpwstr>
  </property>
</Properties>
</file>